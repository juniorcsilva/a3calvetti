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PT Sans"/>
      <p:regular r:id="rId11"/>
      <p:bold r:id="rId12"/>
      <p:italic r:id="rId13"/>
      <p:boldItalic r:id="rId14"/>
    </p:embeddedFont>
    <p:embeddedFont>
      <p:font typeface="Roboto Mono"/>
      <p:regular r:id="rId15"/>
      <p:bold r:id="rId16"/>
      <p:italic r:id="rId17"/>
      <p:boldItalic r:id="rId18"/>
    </p:embeddedFont>
    <p:embeddedFont>
      <p:font typeface="Ex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xo-bold.fntdata"/><Relationship Id="rId22" Type="http://schemas.openxmlformats.org/officeDocument/2006/relationships/font" Target="fonts/Exo-boldItalic.fntdata"/><Relationship Id="rId21" Type="http://schemas.openxmlformats.org/officeDocument/2006/relationships/font" Target="fonts/Ex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PTSans-regular.fntdata"/><Relationship Id="rId10" Type="http://schemas.openxmlformats.org/officeDocument/2006/relationships/slide" Target="slides/slide6.xml"/><Relationship Id="rId13" Type="http://schemas.openxmlformats.org/officeDocument/2006/relationships/font" Target="fonts/PTSans-italic.fntdata"/><Relationship Id="rId12" Type="http://schemas.openxmlformats.org/officeDocument/2006/relationships/font" Target="fonts/PTSans-bold.fntdata"/><Relationship Id="rId15" Type="http://schemas.openxmlformats.org/officeDocument/2006/relationships/font" Target="fonts/RobotoMono-regular.fntdata"/><Relationship Id="rId14" Type="http://schemas.openxmlformats.org/officeDocument/2006/relationships/font" Target="fonts/PTSans-boldItalic.fntdata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19" Type="http://schemas.openxmlformats.org/officeDocument/2006/relationships/font" Target="fonts/Exo-regular.fntdata"/><Relationship Id="rId18" Type="http://schemas.openxmlformats.org/officeDocument/2006/relationships/font" Target="fonts/RobotoMon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9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1" name="Google Shape;26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5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Google Shape;2716;gf11272de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7" name="Google Shape;2717;gf11272de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8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gf11272de0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0" name="Google Shape;2730;gf11272de0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7" name="Shape 2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8" name="Google Shape;2748;gedfa3e31c0_2_20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9" name="Google Shape;2749;gedfa3e31c0_2_20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6" name="Shape 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7" name="Google Shape;2787;gedfa3e31c0_2_20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8" name="Google Shape;2788;gedfa3e31c0_2_20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7" name="Shape 2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8" name="Google Shape;2838;gf11272de0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9" name="Google Shape;2839;gf11272de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2"/>
          <p:cNvSpPr txBox="1"/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  <a:effectLst>
            <a:outerShdw blurRad="142875" rotWithShape="0" algn="bl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2"/>
          <p:cNvSpPr txBox="1"/>
          <p:nvPr>
            <p:ph idx="1" type="subTitle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3"/>
          <p:cNvSpPr txBox="1"/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8" name="Google Shape;168;p3"/>
          <p:cNvSpPr txBox="1"/>
          <p:nvPr>
            <p:ph idx="1" type="subTitle"/>
          </p:nvPr>
        </p:nvSpPr>
        <p:spPr>
          <a:xfrm>
            <a:off x="1858650" y="3415877"/>
            <a:ext cx="54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" name="Google Shape;169;p3"/>
          <p:cNvSpPr txBox="1"/>
          <p:nvPr>
            <p:ph hasCustomPrompt="1" idx="2" type="title"/>
          </p:nvPr>
        </p:nvSpPr>
        <p:spPr>
          <a:xfrm>
            <a:off x="3132448" y="1484973"/>
            <a:ext cx="28791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flipH="1" rot="10800000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flipH="1" rot="-5400000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0" name="Google Shape;270;p4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grpSp>
        <p:nvGrpSpPr>
          <p:cNvPr id="271" name="Google Shape;271;p4"/>
          <p:cNvGrpSpPr/>
          <p:nvPr/>
        </p:nvGrpSpPr>
        <p:grpSpPr>
          <a:xfrm flipH="1" rot="5400000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9" name="Google Shape;349;p5"/>
          <p:cNvSpPr txBox="1"/>
          <p:nvPr>
            <p:ph idx="2" type="title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5"/>
          <p:cNvSpPr txBox="1"/>
          <p:nvPr>
            <p:ph idx="1" type="subTitle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"/>
          <p:cNvSpPr txBox="1"/>
          <p:nvPr>
            <p:ph idx="3" type="title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5"/>
          <p:cNvSpPr txBox="1"/>
          <p:nvPr>
            <p:ph idx="4" type="subTitle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flipH="1" rot="5400000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flipH="1" rot="5400000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flipH="1" rot="10800000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7"/>
          <p:cNvSpPr txBox="1"/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3" name="Google Shape;533;p7"/>
          <p:cNvSpPr txBox="1"/>
          <p:nvPr>
            <p:ph idx="1" type="subTitle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8"/>
          <p:cNvSpPr txBox="1"/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flipH="1" rot="-5400000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flipH="1" rot="-5400000">
            <a:off x="1059557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8" name="Google Shape;718;p9"/>
          <p:cNvSpPr txBox="1"/>
          <p:nvPr>
            <p:ph idx="1" type="subTitle"/>
          </p:nvPr>
        </p:nvSpPr>
        <p:spPr>
          <a:xfrm>
            <a:off x="2399850" y="2366051"/>
            <a:ext cx="4344300" cy="10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9" name="Google Shape;719;p9"/>
          <p:cNvSpPr txBox="1"/>
          <p:nvPr>
            <p:ph type="title"/>
          </p:nvPr>
        </p:nvSpPr>
        <p:spPr>
          <a:xfrm>
            <a:off x="2399850" y="1723050"/>
            <a:ext cx="43443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flipH="1" rot="10800000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/>
          <p:nvPr>
            <p:ph idx="1" type="body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latin typeface="Exo"/>
                <a:ea typeface="Exo"/>
                <a:cs typeface="Exo"/>
                <a:sym typeface="Exo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2" name="Google Shape;822;p11"/>
          <p:cNvSpPr txBox="1"/>
          <p:nvPr>
            <p:ph hasCustomPrompt="1" type="title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/>
          <p:nvPr>
            <p:ph idx="1" type="subTitle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0" name="Google Shape;970;p1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71" name="Google Shape;971;p13"/>
          <p:cNvSpPr txBox="1"/>
          <p:nvPr>
            <p:ph idx="2" type="title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13"/>
          <p:cNvSpPr txBox="1"/>
          <p:nvPr>
            <p:ph idx="1" type="subTitle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3" name="Google Shape;973;p13"/>
          <p:cNvSpPr txBox="1"/>
          <p:nvPr>
            <p:ph hasCustomPrompt="1" idx="3" type="title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/>
          <p:nvPr>
            <p:ph idx="4" type="title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5" name="Google Shape;975;p13"/>
          <p:cNvSpPr txBox="1"/>
          <p:nvPr>
            <p:ph idx="5" type="subTitle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6" name="Google Shape;976;p13"/>
          <p:cNvSpPr txBox="1"/>
          <p:nvPr>
            <p:ph hasCustomPrompt="1" idx="6" type="title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/>
          <p:nvPr>
            <p:ph idx="7" type="title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13"/>
          <p:cNvSpPr txBox="1"/>
          <p:nvPr>
            <p:ph idx="8" type="subTitle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9" name="Google Shape;979;p13"/>
          <p:cNvSpPr txBox="1"/>
          <p:nvPr>
            <p:ph hasCustomPrompt="1" idx="9" type="title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/>
          <p:nvPr>
            <p:ph idx="13" type="title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1" name="Google Shape;981;p13"/>
          <p:cNvSpPr txBox="1"/>
          <p:nvPr>
            <p:ph idx="14" type="subTitle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2" name="Google Shape;982;p13"/>
          <p:cNvSpPr txBox="1"/>
          <p:nvPr>
            <p:ph hasCustomPrompt="1" idx="15" type="title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/>
          <p:nvPr>
            <p:ph idx="16" type="title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4" name="Google Shape;984;p13"/>
          <p:cNvSpPr txBox="1"/>
          <p:nvPr>
            <p:ph idx="17" type="subTitle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5" name="Google Shape;985;p13"/>
          <p:cNvSpPr txBox="1"/>
          <p:nvPr>
            <p:ph hasCustomPrompt="1" idx="18" type="title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/>
          <p:nvPr>
            <p:ph idx="19" type="title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7" name="Google Shape;987;p13"/>
          <p:cNvSpPr txBox="1"/>
          <p:nvPr>
            <p:ph idx="20" type="subTitle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8" name="Google Shape;988;p13"/>
          <p:cNvSpPr txBox="1"/>
          <p:nvPr>
            <p:ph hasCustomPrompt="1" idx="21" type="title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flipH="1" rot="5400000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3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3" name="Google Shape;1103;p14"/>
          <p:cNvSpPr txBox="1"/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4" name="Google Shape;1104;p14"/>
          <p:cNvSpPr txBox="1"/>
          <p:nvPr>
            <p:ph idx="1" type="subTitle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05" name="Google Shape;1105;p14"/>
          <p:cNvSpPr/>
          <p:nvPr/>
        </p:nvSpPr>
        <p:spPr>
          <a:xfrm flipH="1" rot="-5400000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BLANK_4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8" name="Google Shape;1188;p15"/>
          <p:cNvSpPr txBox="1"/>
          <p:nvPr>
            <p:ph type="title"/>
          </p:nvPr>
        </p:nvSpPr>
        <p:spPr>
          <a:xfrm>
            <a:off x="864525" y="2405675"/>
            <a:ext cx="75663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89" name="Google Shape;1189;p15"/>
          <p:cNvSpPr txBox="1"/>
          <p:nvPr>
            <p:ph idx="1" type="subTitle"/>
          </p:nvPr>
        </p:nvSpPr>
        <p:spPr>
          <a:xfrm>
            <a:off x="864525" y="3440475"/>
            <a:ext cx="4644000" cy="34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90" name="Google Shape;1190;p15"/>
          <p:cNvSpPr txBox="1"/>
          <p:nvPr>
            <p:ph hasCustomPrompt="1" idx="2" type="title"/>
          </p:nvPr>
        </p:nvSpPr>
        <p:spPr>
          <a:xfrm>
            <a:off x="864525" y="1484975"/>
            <a:ext cx="21303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5"/>
          <p:cNvSpPr/>
          <p:nvPr/>
        </p:nvSpPr>
        <p:spPr>
          <a:xfrm flipH="1" rot="10800000">
            <a:off x="2891470" y="4842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BLANK_8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Google Shape;1263;p16"/>
          <p:cNvSpPr txBox="1"/>
          <p:nvPr>
            <p:ph type="title"/>
          </p:nvPr>
        </p:nvSpPr>
        <p:spPr>
          <a:xfrm>
            <a:off x="713100" y="2405675"/>
            <a:ext cx="75834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4" name="Google Shape;1264;p16"/>
          <p:cNvSpPr txBox="1"/>
          <p:nvPr>
            <p:ph idx="1" type="subTitle"/>
          </p:nvPr>
        </p:nvSpPr>
        <p:spPr>
          <a:xfrm>
            <a:off x="3567000" y="3415875"/>
            <a:ext cx="4729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5" name="Google Shape;1265;p16"/>
          <p:cNvSpPr txBox="1"/>
          <p:nvPr>
            <p:ph hasCustomPrompt="1" idx="2" type="title"/>
          </p:nvPr>
        </p:nvSpPr>
        <p:spPr>
          <a:xfrm>
            <a:off x="5961000" y="1484975"/>
            <a:ext cx="23355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flipH="1" rot="10800000">
            <a:off x="2358070" y="4766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9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3" name="Google Shape;1343;p17"/>
          <p:cNvSpPr txBox="1"/>
          <p:nvPr>
            <p:ph type="title"/>
          </p:nvPr>
        </p:nvSpPr>
        <p:spPr>
          <a:xfrm>
            <a:off x="713100" y="1723050"/>
            <a:ext cx="4401600" cy="572700"/>
          </a:xfrm>
          <a:prstGeom prst="rect">
            <a:avLst/>
          </a:prstGeom>
          <a:effectLst>
            <a:outerShdw blurRad="157163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44" name="Google Shape;1344;p17"/>
          <p:cNvSpPr txBox="1"/>
          <p:nvPr>
            <p:ph idx="1" type="subTitle"/>
          </p:nvPr>
        </p:nvSpPr>
        <p:spPr>
          <a:xfrm>
            <a:off x="713100" y="2366050"/>
            <a:ext cx="4401600" cy="10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6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0" name="Google Shape;1430;p18"/>
          <p:cNvSpPr txBox="1"/>
          <p:nvPr>
            <p:ph type="title"/>
          </p:nvPr>
        </p:nvSpPr>
        <p:spPr>
          <a:xfrm>
            <a:off x="865500" y="1323677"/>
            <a:ext cx="41661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31" name="Google Shape;1431;p18"/>
          <p:cNvSpPr txBox="1"/>
          <p:nvPr>
            <p:ph idx="1" type="subTitle"/>
          </p:nvPr>
        </p:nvSpPr>
        <p:spPr>
          <a:xfrm>
            <a:off x="865500" y="1966252"/>
            <a:ext cx="4166100" cy="19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0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1" name="Google Shape;1531;p19"/>
          <p:cNvSpPr txBox="1"/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2" name="Google Shape;1532;p19"/>
          <p:cNvSpPr txBox="1"/>
          <p:nvPr>
            <p:ph idx="1" type="subTitle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3" name="Google Shape;1533;p19"/>
          <p:cNvSpPr txBox="1"/>
          <p:nvPr>
            <p:ph idx="2" type="title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4" name="Google Shape;1534;p19"/>
          <p:cNvSpPr txBox="1"/>
          <p:nvPr>
            <p:ph idx="3" type="subTitle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6" name="Google Shape;1566;p19"/>
          <p:cNvSpPr txBox="1"/>
          <p:nvPr>
            <p:ph idx="4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7"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7" name="Google Shape;1607;p20"/>
          <p:cNvSpPr txBox="1"/>
          <p:nvPr>
            <p:ph idx="1" type="subTitle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8" name="Google Shape;1608;p20"/>
          <p:cNvSpPr txBox="1"/>
          <p:nvPr>
            <p:ph idx="2" type="subTitle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6" name="Google Shape;1656;p20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5"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2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98" name="Google Shape;1698;p21"/>
          <p:cNvSpPr txBox="1"/>
          <p:nvPr>
            <p:ph idx="2" type="title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9" name="Google Shape;1699;p21"/>
          <p:cNvSpPr txBox="1"/>
          <p:nvPr>
            <p:ph idx="1" type="subTitle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0" name="Google Shape;1700;p21"/>
          <p:cNvSpPr txBox="1"/>
          <p:nvPr>
            <p:ph idx="3" type="title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1" name="Google Shape;1701;p21"/>
          <p:cNvSpPr txBox="1"/>
          <p:nvPr>
            <p:ph idx="4" type="subTitle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2" name="Google Shape;1702;p21"/>
          <p:cNvSpPr txBox="1"/>
          <p:nvPr>
            <p:ph idx="5" type="title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3" name="Google Shape;1703;p21"/>
          <p:cNvSpPr txBox="1"/>
          <p:nvPr>
            <p:ph idx="6" type="subTitle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flipH="1" rot="5400000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flipH="1" rot="-5400000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6"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0" name="Google Shape;1780;p22"/>
          <p:cNvSpPr txBox="1"/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1" name="Google Shape;1781;p22"/>
          <p:cNvSpPr txBox="1"/>
          <p:nvPr>
            <p:ph idx="1" type="subTitle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2" name="Google Shape;1782;p22"/>
          <p:cNvSpPr txBox="1"/>
          <p:nvPr>
            <p:ph idx="2" type="title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3" name="Google Shape;1783;p22"/>
          <p:cNvSpPr txBox="1"/>
          <p:nvPr>
            <p:ph idx="3" type="subTitle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22"/>
          <p:cNvSpPr txBox="1"/>
          <p:nvPr>
            <p:ph idx="4" type="title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5" name="Google Shape;1785;p22"/>
          <p:cNvSpPr txBox="1"/>
          <p:nvPr>
            <p:ph idx="5" type="subTitle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6" name="Google Shape;1786;p22"/>
          <p:cNvSpPr txBox="1"/>
          <p:nvPr>
            <p:ph idx="6" type="title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7" name="Google Shape;1787;p22"/>
          <p:cNvSpPr txBox="1"/>
          <p:nvPr>
            <p:ph idx="7" type="subTitle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/>
          <p:nvPr>
            <p:ph idx="8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7"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4" name="Google Shape;1894;p2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95" name="Google Shape;1895;p23"/>
          <p:cNvSpPr txBox="1"/>
          <p:nvPr>
            <p:ph idx="2" type="title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6" name="Google Shape;1896;p23"/>
          <p:cNvSpPr txBox="1"/>
          <p:nvPr>
            <p:ph idx="1" type="subTitle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7" name="Google Shape;1897;p23"/>
          <p:cNvSpPr txBox="1"/>
          <p:nvPr>
            <p:ph idx="3" type="title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8" name="Google Shape;1898;p23"/>
          <p:cNvSpPr txBox="1"/>
          <p:nvPr>
            <p:ph idx="4" type="subTitle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9" name="Google Shape;1899;p23"/>
          <p:cNvSpPr txBox="1"/>
          <p:nvPr>
            <p:ph idx="5" type="title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0" name="Google Shape;1900;p23"/>
          <p:cNvSpPr txBox="1"/>
          <p:nvPr>
            <p:ph idx="6" type="subTitle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1" name="Google Shape;1901;p23"/>
          <p:cNvSpPr txBox="1"/>
          <p:nvPr>
            <p:ph idx="7" type="title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2" name="Google Shape;1902;p23"/>
          <p:cNvSpPr txBox="1"/>
          <p:nvPr>
            <p:ph idx="8" type="subTitle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3" name="Google Shape;1903;p23"/>
          <p:cNvSpPr txBox="1"/>
          <p:nvPr>
            <p:ph idx="9" type="title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4" name="Google Shape;1904;p23"/>
          <p:cNvSpPr txBox="1"/>
          <p:nvPr>
            <p:ph idx="13" type="subTitle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5" name="Google Shape;1905;p23"/>
          <p:cNvSpPr txBox="1"/>
          <p:nvPr>
            <p:ph idx="14" type="title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6" name="Google Shape;1906;p23"/>
          <p:cNvSpPr txBox="1"/>
          <p:nvPr>
            <p:ph idx="15" type="subTitle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5"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1" name="Google Shape;2111;p2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4"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9" name="Google Shape;2219;p2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1"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0" name="Google Shape;2260;p2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61" name="Google Shape;2261;p26"/>
          <p:cNvSpPr txBox="1"/>
          <p:nvPr>
            <p:ph idx="2" type="title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2" name="Google Shape;2262;p26"/>
          <p:cNvSpPr txBox="1"/>
          <p:nvPr>
            <p:ph idx="1" type="subTitle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3" name="Google Shape;2263;p26"/>
          <p:cNvSpPr txBox="1"/>
          <p:nvPr>
            <p:ph hasCustomPrompt="1" idx="3" type="title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/>
          <p:nvPr>
            <p:ph idx="4" type="title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5" name="Google Shape;2265;p26"/>
          <p:cNvSpPr txBox="1"/>
          <p:nvPr>
            <p:ph idx="5" type="subTitle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6" name="Google Shape;2266;p26"/>
          <p:cNvSpPr txBox="1"/>
          <p:nvPr>
            <p:ph hasCustomPrompt="1" idx="6" type="title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/>
          <p:nvPr>
            <p:ph idx="7" type="title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8" name="Google Shape;2268;p26"/>
          <p:cNvSpPr txBox="1"/>
          <p:nvPr>
            <p:ph idx="8" type="subTitle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9" name="Google Shape;2269;p26"/>
          <p:cNvSpPr txBox="1"/>
          <p:nvPr>
            <p:ph hasCustomPrompt="1" idx="9" type="title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2"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7" name="Google Shape;2347;p27"/>
          <p:cNvSpPr txBox="1"/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48" name="Google Shape;2348;p27"/>
          <p:cNvSpPr txBox="1"/>
          <p:nvPr>
            <p:ph idx="1" type="subTitle"/>
          </p:nvPr>
        </p:nvSpPr>
        <p:spPr>
          <a:xfrm>
            <a:off x="2335650" y="1775000"/>
            <a:ext cx="4472700" cy="101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infographics &amp; images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3"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2"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b="1"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p30"/>
          <p:cNvSpPr/>
          <p:nvPr/>
        </p:nvSpPr>
        <p:spPr>
          <a:xfrm>
            <a:off x="2130750" y="3329973"/>
            <a:ext cx="4882500" cy="399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30"/>
          <p:cNvSpPr txBox="1"/>
          <p:nvPr>
            <p:ph idx="1" type="subTitle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Boas práticas de clean code</a:t>
            </a:r>
            <a:endParaRPr/>
          </a:p>
        </p:txBody>
      </p:sp>
      <p:grpSp>
        <p:nvGrpSpPr>
          <p:cNvPr id="2655" name="Google Shape;2655;p30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56" name="Google Shape;2656;p30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2" name="Google Shape;2662;p30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663" name="Google Shape;2663;p3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9" name="Google Shape;2669;p30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670" name="Google Shape;2670;p3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5" name="Google Shape;2675;p30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676" name="Google Shape;2676;p30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677" name="Google Shape;2677;p3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8" name="Google Shape;2678;p3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9" name="Google Shape;2679;p3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0" name="Google Shape;2680;p3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1" name="Google Shape;2681;p3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2" name="Google Shape;2682;p3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3" name="Google Shape;2683;p3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4" name="Google Shape;2684;p3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5" name="Google Shape;2685;p3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6" name="Google Shape;2686;p3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7" name="Google Shape;2687;p30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688" name="Google Shape;2688;p3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9" name="Google Shape;2689;p3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0" name="Google Shape;2690;p3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1" name="Google Shape;2691;p3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2" name="Google Shape;2692;p3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3" name="Google Shape;2693;p3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4" name="Google Shape;2694;p3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5" name="Google Shape;2695;p3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6" name="Google Shape;2696;p3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7" name="Google Shape;2697;p3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98" name="Google Shape;2698;p30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699" name="Google Shape;2699;p3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3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3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3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3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3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3" name="Google Shape;2713;p30"/>
          <p:cNvSpPr txBox="1"/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chemeClr val="accent2"/>
                </a:solidFill>
              </a:rPr>
              <a:t>Refatoração de Codigo</a:t>
            </a:r>
            <a:endParaRPr sz="5000"/>
          </a:p>
        </p:txBody>
      </p:sp>
      <p:sp>
        <p:nvSpPr>
          <p:cNvPr id="2714" name="Google Shape;2714;p30"/>
          <p:cNvSpPr txBox="1"/>
          <p:nvPr/>
        </p:nvSpPr>
        <p:spPr>
          <a:xfrm>
            <a:off x="2747400" y="2817800"/>
            <a:ext cx="41244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Genilson C. da Silva Junior - 822161753</a:t>
            </a:r>
            <a:endParaRPr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3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Introdução</a:t>
            </a:r>
            <a:endParaRPr sz="2800">
              <a:solidFill>
                <a:schemeClr val="accent2"/>
              </a:solidFill>
            </a:endParaRPr>
          </a:p>
        </p:txBody>
      </p:sp>
      <p:sp>
        <p:nvSpPr>
          <p:cNvPr id="2720" name="Google Shape;2720;p31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9550" lvl="0" marL="685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efatoração do código legado de um sistema de reservas de biblioteca.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0955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Problema inicial: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código monolítico, acoplado, difícil de entender e impossível de testar.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0955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aplicar Clean Code, SOLID, DRY, KISS e boas práticas de arquitetura.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Transformar o script original em um sistema modular, organizado e mantível.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6858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2721" name="Google Shape;2721;p31"/>
          <p:cNvGrpSpPr/>
          <p:nvPr/>
        </p:nvGrpSpPr>
        <p:grpSpPr>
          <a:xfrm>
            <a:off x="7126489" y="852727"/>
            <a:ext cx="883262" cy="242091"/>
            <a:chOff x="2300350" y="2601250"/>
            <a:chExt cx="2275275" cy="623625"/>
          </a:xfrm>
        </p:grpSpPr>
        <p:sp>
          <p:nvSpPr>
            <p:cNvPr id="2722" name="Google Shape;2722;p3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3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3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3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3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3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p32"/>
          <p:cNvSpPr/>
          <p:nvPr/>
        </p:nvSpPr>
        <p:spPr>
          <a:xfrm>
            <a:off x="6070500" y="1919607"/>
            <a:ext cx="2360400" cy="399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3" name="Google Shape;2733;p32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PROBLEMAS ENCONTRADOS</a:t>
            </a:r>
            <a:endParaRPr sz="3200">
              <a:solidFill>
                <a:schemeClr val="accent2"/>
              </a:solidFill>
            </a:endParaRPr>
          </a:p>
        </p:txBody>
      </p:sp>
      <p:sp>
        <p:nvSpPr>
          <p:cNvPr id="2734" name="Google Shape;2734;p32"/>
          <p:cNvSpPr txBox="1"/>
          <p:nvPr>
            <p:ph idx="3" type="title"/>
          </p:nvPr>
        </p:nvSpPr>
        <p:spPr>
          <a:xfrm>
            <a:off x="760650" y="1304882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Antes</a:t>
            </a:r>
            <a:endParaRPr/>
          </a:p>
        </p:txBody>
      </p:sp>
      <p:sp>
        <p:nvSpPr>
          <p:cNvPr id="2735" name="Google Shape;2735;p32"/>
          <p:cNvSpPr txBox="1"/>
          <p:nvPr>
            <p:ph idx="6" type="title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Depois</a:t>
            </a:r>
            <a:endParaRPr/>
          </a:p>
        </p:txBody>
      </p:sp>
      <p:sp>
        <p:nvSpPr>
          <p:cNvPr id="2736" name="Google Shape;2736;p32"/>
          <p:cNvSpPr txBox="1"/>
          <p:nvPr>
            <p:ph idx="7" type="title"/>
          </p:nvPr>
        </p:nvSpPr>
        <p:spPr>
          <a:xfrm>
            <a:off x="622920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mudou</a:t>
            </a:r>
            <a:endParaRPr/>
          </a:p>
        </p:txBody>
      </p:sp>
      <p:sp>
        <p:nvSpPr>
          <p:cNvPr id="2737" name="Google Shape;2737;p32"/>
          <p:cNvSpPr txBox="1"/>
          <p:nvPr>
            <p:ph idx="8" type="subTitle"/>
          </p:nvPr>
        </p:nvSpPr>
        <p:spPr>
          <a:xfrm>
            <a:off x="6318750" y="2647300"/>
            <a:ext cx="2201700" cy="215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Antes: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função usava 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input()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print()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impossível de testar.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Depois: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O método retorna valores e lança exceções →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testes unitários claros e automáticos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738" name="Google Shape;2738;p32"/>
          <p:cNvSpPr txBox="1"/>
          <p:nvPr>
            <p:ph idx="9" type="title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2739" name="Google Shape;2739;p3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2740" name="Google Shape;2740;p3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45" name="Google Shape;27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250" y="1919588"/>
            <a:ext cx="2576375" cy="30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6" name="Google Shape;274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1575" y="1888150"/>
            <a:ext cx="3407175" cy="30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p33"/>
          <p:cNvSpPr txBox="1"/>
          <p:nvPr>
            <p:ph type="title"/>
          </p:nvPr>
        </p:nvSpPr>
        <p:spPr>
          <a:xfrm>
            <a:off x="665425" y="346000"/>
            <a:ext cx="56622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Soluções Implementadas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752" name="Google Shape;2752;p33"/>
          <p:cNvSpPr txBox="1"/>
          <p:nvPr>
            <p:ph idx="1" type="subTitle"/>
          </p:nvPr>
        </p:nvSpPr>
        <p:spPr>
          <a:xfrm>
            <a:off x="713100" y="2366050"/>
            <a:ext cx="4401600" cy="10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Transformação para arquitetura em camadas (domain, repository, service, app).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Separação clara de responsabilidades segundo SOLID.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Eliminação de variáveis globais e dependências implícitas.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Repositórios para acesso a arquivos com baixo acoplamento.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Serviços com validações e regras unificadas.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Testes unitários com pytest garantindo funcionamento correto.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GitHub Actions configurado para CI (execuçã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o automática dos testes).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3" name="Google Shape;2753;p33"/>
          <p:cNvPicPr preferRelativeResize="0"/>
          <p:nvPr/>
        </p:nvPicPr>
        <p:blipFill rotWithShape="1">
          <a:blip r:embed="rId3">
            <a:alphaModFix/>
          </a:blip>
          <a:srcRect b="0" l="15592" r="15598" t="0"/>
          <a:stretch/>
        </p:blipFill>
        <p:spPr>
          <a:xfrm>
            <a:off x="5474725" y="1307063"/>
            <a:ext cx="2727600" cy="2730300"/>
          </a:xfrm>
          <a:prstGeom prst="ellipse">
            <a:avLst/>
          </a:prstGeom>
          <a:noFill/>
          <a:ln>
            <a:noFill/>
          </a:ln>
          <a:effectLst>
            <a:outerShdw blurRad="657225" rotWithShape="0" algn="bl">
              <a:schemeClr val="accent2">
                <a:alpha val="40000"/>
              </a:schemeClr>
            </a:outerShdw>
          </a:effectLst>
        </p:spPr>
      </p:pic>
      <p:sp>
        <p:nvSpPr>
          <p:cNvPr id="2754" name="Google Shape;2754;p33"/>
          <p:cNvSpPr/>
          <p:nvPr/>
        </p:nvSpPr>
        <p:spPr>
          <a:xfrm>
            <a:off x="-1414555" y="4201465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5" name="Google Shape;2755;p33"/>
          <p:cNvSpPr/>
          <p:nvPr/>
        </p:nvSpPr>
        <p:spPr>
          <a:xfrm>
            <a:off x="-1111455" y="3922165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6" name="Google Shape;2756;p33"/>
          <p:cNvGrpSpPr/>
          <p:nvPr/>
        </p:nvGrpSpPr>
        <p:grpSpPr>
          <a:xfrm rot="10800000">
            <a:off x="7471439" y="3616978"/>
            <a:ext cx="883262" cy="242091"/>
            <a:chOff x="2300350" y="2601250"/>
            <a:chExt cx="2275275" cy="623625"/>
          </a:xfrm>
        </p:grpSpPr>
        <p:sp>
          <p:nvSpPr>
            <p:cNvPr id="2757" name="Google Shape;2757;p3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3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3" name="Google Shape;2763;p33"/>
          <p:cNvGrpSpPr/>
          <p:nvPr/>
        </p:nvGrpSpPr>
        <p:grpSpPr>
          <a:xfrm>
            <a:off x="4762192" y="4297866"/>
            <a:ext cx="1105976" cy="133969"/>
            <a:chOff x="8183182" y="663852"/>
            <a:chExt cx="1475028" cy="178673"/>
          </a:xfrm>
        </p:grpSpPr>
        <p:grpSp>
          <p:nvGrpSpPr>
            <p:cNvPr id="2764" name="Google Shape;2764;p3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65" name="Google Shape;2765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6" name="Google Shape;2766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7" name="Google Shape;2767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8" name="Google Shape;2768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9" name="Google Shape;2769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0" name="Google Shape;2770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1" name="Google Shape;2771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2" name="Google Shape;2772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3" name="Google Shape;2773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4" name="Google Shape;2774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75" name="Google Shape;2775;p3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76" name="Google Shape;2776;p3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7" name="Google Shape;2777;p3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8" name="Google Shape;2778;p3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9" name="Google Shape;2779;p3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0" name="Google Shape;2780;p3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1" name="Google Shape;2781;p3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2" name="Google Shape;2782;p3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3" name="Google Shape;2783;p3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4" name="Google Shape;2784;p3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5" name="Google Shape;2785;p3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9" name="Shape 2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p34"/>
          <p:cNvSpPr txBox="1"/>
          <p:nvPr>
            <p:ph type="title"/>
          </p:nvPr>
        </p:nvSpPr>
        <p:spPr>
          <a:xfrm>
            <a:off x="2053000" y="769075"/>
            <a:ext cx="5541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Trabalho e Experiência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791" name="Google Shape;2791;p34"/>
          <p:cNvSpPr txBox="1"/>
          <p:nvPr>
            <p:ph idx="1" type="subTitle"/>
          </p:nvPr>
        </p:nvSpPr>
        <p:spPr>
          <a:xfrm>
            <a:off x="2495775" y="1385576"/>
            <a:ext cx="4344300" cy="10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Projeto originalmente para grupo de 5 — conduzido por 1 integrante.</a:t>
            </a:r>
            <a:br>
              <a:rPr lang="en"/>
            </a:b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Commits organizados simulando colaboração real.</a:t>
            </a:r>
            <a:br>
              <a:rPr lang="en"/>
            </a:b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Controle de versão facilitou rastrear erros e evoluções.</a:t>
            </a:r>
            <a:br>
              <a:rPr lang="en"/>
            </a:b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Aprendizado prático sobre Git, versionamento, branches e CI.</a:t>
            </a:r>
            <a:br>
              <a:rPr lang="en"/>
            </a:b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Experiência real em refatorar código legado e corrigir problemas gradualmente.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2" name="Google Shape;2792;p34"/>
          <p:cNvSpPr/>
          <p:nvPr/>
        </p:nvSpPr>
        <p:spPr>
          <a:xfrm rot="10800000">
            <a:off x="6176787" y="39916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3" name="Google Shape;2793;p34"/>
          <p:cNvGrpSpPr/>
          <p:nvPr/>
        </p:nvGrpSpPr>
        <p:grpSpPr>
          <a:xfrm>
            <a:off x="6397851" y="1075319"/>
            <a:ext cx="1252897" cy="51000"/>
            <a:chOff x="2915381" y="4104819"/>
            <a:chExt cx="1252897" cy="51000"/>
          </a:xfrm>
        </p:grpSpPr>
        <p:sp>
          <p:nvSpPr>
            <p:cNvPr id="2794" name="Google Shape;2794;p3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8" name="Google Shape;2808;p34"/>
          <p:cNvGrpSpPr/>
          <p:nvPr/>
        </p:nvGrpSpPr>
        <p:grpSpPr>
          <a:xfrm rot="5400000">
            <a:off x="7822000" y="3988625"/>
            <a:ext cx="98902" cy="553090"/>
            <a:chOff x="4898850" y="4820550"/>
            <a:chExt cx="98902" cy="553090"/>
          </a:xfrm>
        </p:grpSpPr>
        <p:sp>
          <p:nvSpPr>
            <p:cNvPr id="2809" name="Google Shape;2809;p3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4" name="Google Shape;2814;p34"/>
          <p:cNvGrpSpPr/>
          <p:nvPr/>
        </p:nvGrpSpPr>
        <p:grpSpPr>
          <a:xfrm>
            <a:off x="1632103" y="4389467"/>
            <a:ext cx="1105976" cy="133969"/>
            <a:chOff x="8183182" y="663852"/>
            <a:chExt cx="1475028" cy="178673"/>
          </a:xfrm>
        </p:grpSpPr>
        <p:grpSp>
          <p:nvGrpSpPr>
            <p:cNvPr id="2815" name="Google Shape;2815;p3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16" name="Google Shape;2816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7" name="Google Shape;2817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8" name="Google Shape;2818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9" name="Google Shape;2819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0" name="Google Shape;2820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1" name="Google Shape;2821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2" name="Google Shape;2822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3" name="Google Shape;2823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4" name="Google Shape;2824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5" name="Google Shape;2825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26" name="Google Shape;2826;p3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27" name="Google Shape;2827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8" name="Google Shape;2828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9" name="Google Shape;2829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0" name="Google Shape;2830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1" name="Google Shape;2831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2" name="Google Shape;2832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3" name="Google Shape;2833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4" name="Google Shape;2834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5" name="Google Shape;2835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6" name="Google Shape;2836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0" name="Shape 2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1" name="Google Shape;2841;p35"/>
          <p:cNvSpPr txBox="1"/>
          <p:nvPr>
            <p:ph type="title"/>
          </p:nvPr>
        </p:nvSpPr>
        <p:spPr>
          <a:xfrm>
            <a:off x="713100" y="825752"/>
            <a:ext cx="7717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Importância </a:t>
            </a:r>
            <a:r>
              <a:rPr lang="en">
                <a:solidFill>
                  <a:schemeClr val="accent2"/>
                </a:solidFill>
              </a:rPr>
              <a:t>Clean Code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42" name="Google Shape;2842;p35"/>
          <p:cNvSpPr txBox="1"/>
          <p:nvPr>
            <p:ph idx="1" type="subTitle"/>
          </p:nvPr>
        </p:nvSpPr>
        <p:spPr>
          <a:xfrm>
            <a:off x="832350" y="1968600"/>
            <a:ext cx="7479300" cy="33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Clean Code torna o sistema mais legível, modular e sustentável.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Facilita manutenção, reduz bugs e evita débito técnico.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No projeto da Biblioteca, transformou um código rígido e confuso em uma solução testável, extensível e profissional.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/>
              <a:t>Essencial para desenvolvimento real, projetos em equipe e evolução contínua do software.</a:t>
            </a:r>
            <a:br>
              <a:rPr lang="en"/>
            </a:b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2843" name="Google Shape;2843;p35"/>
          <p:cNvGrpSpPr/>
          <p:nvPr/>
        </p:nvGrpSpPr>
        <p:grpSpPr>
          <a:xfrm rot="-5400000">
            <a:off x="2746096" y="55862"/>
            <a:ext cx="1823016" cy="296643"/>
            <a:chOff x="7857346" y="3902355"/>
            <a:chExt cx="1823016" cy="296643"/>
          </a:xfrm>
        </p:grpSpPr>
        <p:sp>
          <p:nvSpPr>
            <p:cNvPr id="2844" name="Google Shape;2844;p3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3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3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3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3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3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50" name="Google Shape;2850;p35"/>
          <p:cNvGrpSpPr/>
          <p:nvPr/>
        </p:nvGrpSpPr>
        <p:grpSpPr>
          <a:xfrm>
            <a:off x="1609176" y="4434219"/>
            <a:ext cx="1252897" cy="51000"/>
            <a:chOff x="2915381" y="4104819"/>
            <a:chExt cx="1252897" cy="51000"/>
          </a:xfrm>
        </p:grpSpPr>
        <p:sp>
          <p:nvSpPr>
            <p:cNvPr id="2851" name="Google Shape;2851;p3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3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3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3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3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3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3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3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3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3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3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3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3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5" name="Google Shape;2865;p35"/>
          <p:cNvGrpSpPr/>
          <p:nvPr/>
        </p:nvGrpSpPr>
        <p:grpSpPr>
          <a:xfrm>
            <a:off x="5495767" y="691791"/>
            <a:ext cx="1105976" cy="133969"/>
            <a:chOff x="8183182" y="663852"/>
            <a:chExt cx="1475028" cy="178673"/>
          </a:xfrm>
        </p:grpSpPr>
        <p:grpSp>
          <p:nvGrpSpPr>
            <p:cNvPr id="2866" name="Google Shape;2866;p3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67" name="Google Shape;2867;p3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8" name="Google Shape;2868;p3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9" name="Google Shape;2869;p3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0" name="Google Shape;2870;p3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1" name="Google Shape;2871;p3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2" name="Google Shape;2872;p3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3" name="Google Shape;2873;p3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4" name="Google Shape;2874;p3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5" name="Google Shape;2875;p3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6" name="Google Shape;2876;p3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77" name="Google Shape;2877;p3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878" name="Google Shape;2878;p3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9" name="Google Shape;2879;p3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0" name="Google Shape;2880;p3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1" name="Google Shape;2881;p3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2" name="Google Shape;2882;p3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3" name="Google Shape;2883;p3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4" name="Google Shape;2884;p3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5" name="Google Shape;2885;p3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6" name="Google Shape;2886;p3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7" name="Google Shape;2887;p3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888" name="Google Shape;2888;p35"/>
          <p:cNvGrpSpPr/>
          <p:nvPr/>
        </p:nvGrpSpPr>
        <p:grpSpPr>
          <a:xfrm rot="5400000">
            <a:off x="5968600" y="4273462"/>
            <a:ext cx="98902" cy="553090"/>
            <a:chOff x="4898850" y="4820550"/>
            <a:chExt cx="98902" cy="553090"/>
          </a:xfrm>
        </p:grpSpPr>
        <p:sp>
          <p:nvSpPr>
            <p:cNvPr id="2889" name="Google Shape;2889;p3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3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3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3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3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4620"/>
      </a:lt2>
      <a:accent1>
        <a:srgbClr val="2FD742"/>
      </a:accent1>
      <a:accent2>
        <a:srgbClr val="D1FF8F"/>
      </a:accent2>
      <a:accent3>
        <a:srgbClr val="FFF795"/>
      </a:accent3>
      <a:accent4>
        <a:srgbClr val="1D7531"/>
      </a:accent4>
      <a:accent5>
        <a:srgbClr val="FFFFFF"/>
      </a:accent5>
      <a:accent6>
        <a:srgbClr val="FFFFFF"/>
      </a:accent6>
      <a:hlink>
        <a:srgbClr val="D1FF8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